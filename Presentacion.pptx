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3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71E4BE-E69E-4C29-94A3-00699F13D955}" type="doc">
      <dgm:prSet loTypeId="urn:microsoft.com/office/officeart/2005/8/layout/vProcess5" loCatId="process" qsTypeId="urn:microsoft.com/office/officeart/2005/8/quickstyle/simple1#21" qsCatId="simple" csTypeId="urn:microsoft.com/office/officeart/2005/8/colors/colorful1#3" csCatId="colorful"/>
      <dgm:spPr/>
      <dgm:t>
        <a:bodyPr/>
        <a:lstStyle/>
        <a:p>
          <a:endParaRPr lang="en-US"/>
        </a:p>
      </dgm:t>
    </dgm:pt>
    <dgm:pt modelId="{6510BB28-E876-475A-994C-3A2BD737D762}">
      <dgm:prSet/>
      <dgm:spPr/>
      <dgm:t>
        <a:bodyPr/>
        <a:lstStyle/>
        <a:p>
          <a:r>
            <a:rPr lang="es-MX"/>
            <a:t>El modelo nunca toca el disco directamente </a:t>
          </a:r>
          <a:endParaRPr lang="en-US"/>
        </a:p>
      </dgm:t>
    </dgm:pt>
    <dgm:pt modelId="{9DC2E903-C8F3-44A1-9F5F-159A24C69769}" type="parTrans" cxnId="{A99EC22E-949B-4865-AE64-D775C6453E0D}">
      <dgm:prSet/>
      <dgm:spPr/>
      <dgm:t>
        <a:bodyPr/>
        <a:lstStyle/>
        <a:p>
          <a:endParaRPr lang="en-US"/>
        </a:p>
      </dgm:t>
    </dgm:pt>
    <dgm:pt modelId="{6549AFD5-0018-4E6B-BA95-D76ED3928EEA}" type="sibTrans" cxnId="{A99EC22E-949B-4865-AE64-D775C6453E0D}">
      <dgm:prSet/>
      <dgm:spPr/>
      <dgm:t>
        <a:bodyPr/>
        <a:lstStyle/>
        <a:p>
          <a:endParaRPr lang="en-US"/>
        </a:p>
      </dgm:t>
    </dgm:pt>
    <dgm:pt modelId="{01F2C73F-D990-44C9-8014-BA6BAFBB8792}">
      <dgm:prSet/>
      <dgm:spPr/>
      <dgm:t>
        <a:bodyPr/>
        <a:lstStyle/>
        <a:p>
          <a:r>
            <a:rPr lang="es-MX"/>
            <a:t>El límite de seguridad depende del servidor, no del modelo </a:t>
          </a:r>
          <a:endParaRPr lang="en-US"/>
        </a:p>
      </dgm:t>
    </dgm:pt>
    <dgm:pt modelId="{1889958B-AEBE-4098-8EBD-FA8B5F676FC5}" type="parTrans" cxnId="{D9C74A78-C359-4275-AB6A-67885380CE92}">
      <dgm:prSet/>
      <dgm:spPr/>
      <dgm:t>
        <a:bodyPr/>
        <a:lstStyle/>
        <a:p>
          <a:endParaRPr lang="en-US"/>
        </a:p>
      </dgm:t>
    </dgm:pt>
    <dgm:pt modelId="{BC353078-7BE6-4565-8AC8-E66FBBF58206}" type="sibTrans" cxnId="{D9C74A78-C359-4275-AB6A-67885380CE92}">
      <dgm:prSet/>
      <dgm:spPr/>
      <dgm:t>
        <a:bodyPr/>
        <a:lstStyle/>
        <a:p>
          <a:endParaRPr lang="en-US"/>
        </a:p>
      </dgm:t>
    </dgm:pt>
    <dgm:pt modelId="{2217EF8D-19B2-4DB2-AE42-821EDBA735D9}">
      <dgm:prSet/>
      <dgm:spPr/>
      <dgm:t>
        <a:bodyPr/>
        <a:lstStyle/>
        <a:p>
          <a:r>
            <a:rPr lang="es-MX"/>
            <a:t>MCP cambia quién decide qué herramienta usar: el modelo, no el código</a:t>
          </a:r>
          <a:endParaRPr lang="en-US"/>
        </a:p>
      </dgm:t>
    </dgm:pt>
    <dgm:pt modelId="{4D7DF14E-E71B-4809-97B3-0287CA56C0BD}" type="parTrans" cxnId="{D2B62F8D-A26B-4B35-B0EF-67074E4DEFA8}">
      <dgm:prSet/>
      <dgm:spPr/>
      <dgm:t>
        <a:bodyPr/>
        <a:lstStyle/>
        <a:p>
          <a:endParaRPr lang="en-US"/>
        </a:p>
      </dgm:t>
    </dgm:pt>
    <dgm:pt modelId="{37DC40E8-6867-46EE-BA62-B026142BC3C9}" type="sibTrans" cxnId="{D2B62F8D-A26B-4B35-B0EF-67074E4DEFA8}">
      <dgm:prSet/>
      <dgm:spPr/>
      <dgm:t>
        <a:bodyPr/>
        <a:lstStyle/>
        <a:p>
          <a:endParaRPr lang="en-US"/>
        </a:p>
      </dgm:t>
    </dgm:pt>
    <dgm:pt modelId="{BCC66ED2-4FCE-4175-9A4C-7027AEC82D44}" type="pres">
      <dgm:prSet presAssocID="{7271E4BE-E69E-4C29-94A3-00699F13D955}" presName="outerComposite" presStyleCnt="0">
        <dgm:presLayoutVars>
          <dgm:chMax val="5"/>
          <dgm:dir/>
          <dgm:resizeHandles val="exact"/>
        </dgm:presLayoutVars>
      </dgm:prSet>
      <dgm:spPr/>
    </dgm:pt>
    <dgm:pt modelId="{BC9B1D3C-CD91-482B-BA14-FEBA9A806D86}" type="pres">
      <dgm:prSet presAssocID="{7271E4BE-E69E-4C29-94A3-00699F13D955}" presName="dummyMaxCanvas" presStyleCnt="0">
        <dgm:presLayoutVars/>
      </dgm:prSet>
      <dgm:spPr/>
    </dgm:pt>
    <dgm:pt modelId="{5DB09354-BC8F-4890-8D78-FD2548DE9E0C}" type="pres">
      <dgm:prSet presAssocID="{7271E4BE-E69E-4C29-94A3-00699F13D955}" presName="ThreeNodes_1" presStyleLbl="node1" presStyleIdx="0" presStyleCnt="3">
        <dgm:presLayoutVars>
          <dgm:bulletEnabled val="1"/>
        </dgm:presLayoutVars>
      </dgm:prSet>
      <dgm:spPr/>
    </dgm:pt>
    <dgm:pt modelId="{CF5EAC1B-7986-4097-9053-2DD8C33E431A}" type="pres">
      <dgm:prSet presAssocID="{7271E4BE-E69E-4C29-94A3-00699F13D955}" presName="ThreeNodes_2" presStyleLbl="node1" presStyleIdx="1" presStyleCnt="3">
        <dgm:presLayoutVars>
          <dgm:bulletEnabled val="1"/>
        </dgm:presLayoutVars>
      </dgm:prSet>
      <dgm:spPr/>
    </dgm:pt>
    <dgm:pt modelId="{0E66FFE9-E2E6-44B8-A3A2-C27801DAA8B2}" type="pres">
      <dgm:prSet presAssocID="{7271E4BE-E69E-4C29-94A3-00699F13D955}" presName="ThreeNodes_3" presStyleLbl="node1" presStyleIdx="2" presStyleCnt="3">
        <dgm:presLayoutVars>
          <dgm:bulletEnabled val="1"/>
        </dgm:presLayoutVars>
      </dgm:prSet>
      <dgm:spPr/>
    </dgm:pt>
    <dgm:pt modelId="{D1E68029-69C2-4B85-9988-606A9D7A1358}" type="pres">
      <dgm:prSet presAssocID="{7271E4BE-E69E-4C29-94A3-00699F13D955}" presName="ThreeConn_1-2" presStyleLbl="fgAccFollowNode1" presStyleIdx="0" presStyleCnt="2">
        <dgm:presLayoutVars>
          <dgm:bulletEnabled val="1"/>
        </dgm:presLayoutVars>
      </dgm:prSet>
      <dgm:spPr/>
    </dgm:pt>
    <dgm:pt modelId="{089C7A72-473F-465E-AB7F-76B0E43FA744}" type="pres">
      <dgm:prSet presAssocID="{7271E4BE-E69E-4C29-94A3-00699F13D955}" presName="ThreeConn_2-3" presStyleLbl="fgAccFollowNode1" presStyleIdx="1" presStyleCnt="2">
        <dgm:presLayoutVars>
          <dgm:bulletEnabled val="1"/>
        </dgm:presLayoutVars>
      </dgm:prSet>
      <dgm:spPr/>
    </dgm:pt>
    <dgm:pt modelId="{0C1C554A-9B7A-439E-8CF6-B46E6EA17D7A}" type="pres">
      <dgm:prSet presAssocID="{7271E4BE-E69E-4C29-94A3-00699F13D955}" presName="ThreeNodes_1_text" presStyleLbl="node1" presStyleIdx="2" presStyleCnt="3">
        <dgm:presLayoutVars>
          <dgm:bulletEnabled val="1"/>
        </dgm:presLayoutVars>
      </dgm:prSet>
      <dgm:spPr/>
    </dgm:pt>
    <dgm:pt modelId="{AADD3158-C79F-45F9-8186-A772B201D726}" type="pres">
      <dgm:prSet presAssocID="{7271E4BE-E69E-4C29-94A3-00699F13D955}" presName="ThreeNodes_2_text" presStyleLbl="node1" presStyleIdx="2" presStyleCnt="3">
        <dgm:presLayoutVars>
          <dgm:bulletEnabled val="1"/>
        </dgm:presLayoutVars>
      </dgm:prSet>
      <dgm:spPr/>
    </dgm:pt>
    <dgm:pt modelId="{3308FF0A-AE1E-4C7B-81EE-F8AD7894F219}" type="pres">
      <dgm:prSet presAssocID="{7271E4BE-E69E-4C29-94A3-00699F13D955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C7FDF112-2C30-41CB-ABF4-90D09C4DE9A0}" type="presOf" srcId="{2217EF8D-19B2-4DB2-AE42-821EDBA735D9}" destId="{0E66FFE9-E2E6-44B8-A3A2-C27801DAA8B2}" srcOrd="0" destOrd="0" presId="urn:microsoft.com/office/officeart/2005/8/layout/vProcess5"/>
    <dgm:cxn modelId="{3FB3B413-1F69-41DE-BED0-6493B0B73F25}" type="presOf" srcId="{01F2C73F-D990-44C9-8014-BA6BAFBB8792}" destId="{AADD3158-C79F-45F9-8186-A772B201D726}" srcOrd="1" destOrd="0" presId="urn:microsoft.com/office/officeart/2005/8/layout/vProcess5"/>
    <dgm:cxn modelId="{01C9511D-976F-493E-8531-0C805CA7B595}" type="presOf" srcId="{6510BB28-E876-475A-994C-3A2BD737D762}" destId="{5DB09354-BC8F-4890-8D78-FD2548DE9E0C}" srcOrd="0" destOrd="0" presId="urn:microsoft.com/office/officeart/2005/8/layout/vProcess5"/>
    <dgm:cxn modelId="{97D57220-541F-4CB5-81D5-ED597A2CA129}" type="presOf" srcId="{6510BB28-E876-475A-994C-3A2BD737D762}" destId="{0C1C554A-9B7A-439E-8CF6-B46E6EA17D7A}" srcOrd="1" destOrd="0" presId="urn:microsoft.com/office/officeart/2005/8/layout/vProcess5"/>
    <dgm:cxn modelId="{A99EC22E-949B-4865-AE64-D775C6453E0D}" srcId="{7271E4BE-E69E-4C29-94A3-00699F13D955}" destId="{6510BB28-E876-475A-994C-3A2BD737D762}" srcOrd="0" destOrd="0" parTransId="{9DC2E903-C8F3-44A1-9F5F-159A24C69769}" sibTransId="{6549AFD5-0018-4E6B-BA95-D76ED3928EEA}"/>
    <dgm:cxn modelId="{D9C74A78-C359-4275-AB6A-67885380CE92}" srcId="{7271E4BE-E69E-4C29-94A3-00699F13D955}" destId="{01F2C73F-D990-44C9-8014-BA6BAFBB8792}" srcOrd="1" destOrd="0" parTransId="{1889958B-AEBE-4098-8EBD-FA8B5F676FC5}" sibTransId="{BC353078-7BE6-4565-8AC8-E66FBBF58206}"/>
    <dgm:cxn modelId="{3E756E8A-F53C-4807-ACF8-92EF49E73BC3}" type="presOf" srcId="{7271E4BE-E69E-4C29-94A3-00699F13D955}" destId="{BCC66ED2-4FCE-4175-9A4C-7027AEC82D44}" srcOrd="0" destOrd="0" presId="urn:microsoft.com/office/officeart/2005/8/layout/vProcess5"/>
    <dgm:cxn modelId="{D2B62F8D-A26B-4B35-B0EF-67074E4DEFA8}" srcId="{7271E4BE-E69E-4C29-94A3-00699F13D955}" destId="{2217EF8D-19B2-4DB2-AE42-821EDBA735D9}" srcOrd="2" destOrd="0" parTransId="{4D7DF14E-E71B-4809-97B3-0287CA56C0BD}" sibTransId="{37DC40E8-6867-46EE-BA62-B026142BC3C9}"/>
    <dgm:cxn modelId="{35E2A7C6-F5FA-4183-8B4E-44DC00A3D822}" type="presOf" srcId="{01F2C73F-D990-44C9-8014-BA6BAFBB8792}" destId="{CF5EAC1B-7986-4097-9053-2DD8C33E431A}" srcOrd="0" destOrd="0" presId="urn:microsoft.com/office/officeart/2005/8/layout/vProcess5"/>
    <dgm:cxn modelId="{9B30FED8-C786-4031-A37C-3A6EDB2C16A3}" type="presOf" srcId="{6549AFD5-0018-4E6B-BA95-D76ED3928EEA}" destId="{D1E68029-69C2-4B85-9988-606A9D7A1358}" srcOrd="0" destOrd="0" presId="urn:microsoft.com/office/officeart/2005/8/layout/vProcess5"/>
    <dgm:cxn modelId="{009C93DC-CF99-4F2C-97B3-59DE48F16845}" type="presOf" srcId="{2217EF8D-19B2-4DB2-AE42-821EDBA735D9}" destId="{3308FF0A-AE1E-4C7B-81EE-F8AD7894F219}" srcOrd="1" destOrd="0" presId="urn:microsoft.com/office/officeart/2005/8/layout/vProcess5"/>
    <dgm:cxn modelId="{1D69A0E5-BEB5-4778-AA58-4D602B45B45D}" type="presOf" srcId="{BC353078-7BE6-4565-8AC8-E66FBBF58206}" destId="{089C7A72-473F-465E-AB7F-76B0E43FA744}" srcOrd="0" destOrd="0" presId="urn:microsoft.com/office/officeart/2005/8/layout/vProcess5"/>
    <dgm:cxn modelId="{ED1E56A3-FB62-4383-99D8-30283E7AA7CD}" type="presParOf" srcId="{BCC66ED2-4FCE-4175-9A4C-7027AEC82D44}" destId="{BC9B1D3C-CD91-482B-BA14-FEBA9A806D86}" srcOrd="0" destOrd="0" presId="urn:microsoft.com/office/officeart/2005/8/layout/vProcess5"/>
    <dgm:cxn modelId="{03FAB32B-3371-4B71-8646-552A38F8278F}" type="presParOf" srcId="{BCC66ED2-4FCE-4175-9A4C-7027AEC82D44}" destId="{5DB09354-BC8F-4890-8D78-FD2548DE9E0C}" srcOrd="1" destOrd="0" presId="urn:microsoft.com/office/officeart/2005/8/layout/vProcess5"/>
    <dgm:cxn modelId="{59AA3214-07B5-49CA-A49E-B3AFA6BB57D4}" type="presParOf" srcId="{BCC66ED2-4FCE-4175-9A4C-7027AEC82D44}" destId="{CF5EAC1B-7986-4097-9053-2DD8C33E431A}" srcOrd="2" destOrd="0" presId="urn:microsoft.com/office/officeart/2005/8/layout/vProcess5"/>
    <dgm:cxn modelId="{300E74D6-40B9-4130-8B0B-F6324DDBA853}" type="presParOf" srcId="{BCC66ED2-4FCE-4175-9A4C-7027AEC82D44}" destId="{0E66FFE9-E2E6-44B8-A3A2-C27801DAA8B2}" srcOrd="3" destOrd="0" presId="urn:microsoft.com/office/officeart/2005/8/layout/vProcess5"/>
    <dgm:cxn modelId="{98F5B36F-6777-4F6B-8CD0-57C96EE7BD55}" type="presParOf" srcId="{BCC66ED2-4FCE-4175-9A4C-7027AEC82D44}" destId="{D1E68029-69C2-4B85-9988-606A9D7A1358}" srcOrd="4" destOrd="0" presId="urn:microsoft.com/office/officeart/2005/8/layout/vProcess5"/>
    <dgm:cxn modelId="{7DD42961-66C9-4012-BD58-0CAF1D0EC1CF}" type="presParOf" srcId="{BCC66ED2-4FCE-4175-9A4C-7027AEC82D44}" destId="{089C7A72-473F-465E-AB7F-76B0E43FA744}" srcOrd="5" destOrd="0" presId="urn:microsoft.com/office/officeart/2005/8/layout/vProcess5"/>
    <dgm:cxn modelId="{8F877BAD-630B-4CF4-BF09-4B86CEC03590}" type="presParOf" srcId="{BCC66ED2-4FCE-4175-9A4C-7027AEC82D44}" destId="{0C1C554A-9B7A-439E-8CF6-B46E6EA17D7A}" srcOrd="6" destOrd="0" presId="urn:microsoft.com/office/officeart/2005/8/layout/vProcess5"/>
    <dgm:cxn modelId="{C9916F6F-FD29-4399-A767-66DBA810924B}" type="presParOf" srcId="{BCC66ED2-4FCE-4175-9A4C-7027AEC82D44}" destId="{AADD3158-C79F-45F9-8186-A772B201D726}" srcOrd="7" destOrd="0" presId="urn:microsoft.com/office/officeart/2005/8/layout/vProcess5"/>
    <dgm:cxn modelId="{54D75F53-3661-48DE-9247-DAE4F9BF8992}" type="presParOf" srcId="{BCC66ED2-4FCE-4175-9A4C-7027AEC82D44}" destId="{3308FF0A-AE1E-4C7B-81EE-F8AD7894F21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B09354-BC8F-4890-8D78-FD2548DE9E0C}">
      <dsp:nvSpPr>
        <dsp:cNvPr id="0" name=""/>
        <dsp:cNvSpPr/>
      </dsp:nvSpPr>
      <dsp:spPr>
        <a:xfrm>
          <a:off x="0" y="0"/>
          <a:ext cx="9375457" cy="110347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000" kern="1200"/>
            <a:t>El modelo nunca toca el disco directamente </a:t>
          </a:r>
          <a:endParaRPr lang="en-US" sz="3000" kern="1200"/>
        </a:p>
      </dsp:txBody>
      <dsp:txXfrm>
        <a:off x="32320" y="32320"/>
        <a:ext cx="8184724" cy="1038831"/>
      </dsp:txXfrm>
    </dsp:sp>
    <dsp:sp modelId="{CF5EAC1B-7986-4097-9053-2DD8C33E431A}">
      <dsp:nvSpPr>
        <dsp:cNvPr id="0" name=""/>
        <dsp:cNvSpPr/>
      </dsp:nvSpPr>
      <dsp:spPr>
        <a:xfrm>
          <a:off x="827246" y="1287383"/>
          <a:ext cx="9375457" cy="110347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000" kern="1200"/>
            <a:t>El límite de seguridad depende del servidor, no del modelo </a:t>
          </a:r>
          <a:endParaRPr lang="en-US" sz="3000" kern="1200"/>
        </a:p>
      </dsp:txBody>
      <dsp:txXfrm>
        <a:off x="859566" y="1319703"/>
        <a:ext cx="7766314" cy="1038831"/>
      </dsp:txXfrm>
    </dsp:sp>
    <dsp:sp modelId="{0E66FFE9-E2E6-44B8-A3A2-C27801DAA8B2}">
      <dsp:nvSpPr>
        <dsp:cNvPr id="0" name=""/>
        <dsp:cNvSpPr/>
      </dsp:nvSpPr>
      <dsp:spPr>
        <a:xfrm>
          <a:off x="1654492" y="2574766"/>
          <a:ext cx="9375457" cy="110347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000" kern="1200"/>
            <a:t>MCP cambia quién decide qué herramienta usar: el modelo, no el código</a:t>
          </a:r>
          <a:endParaRPr lang="en-US" sz="3000" kern="1200"/>
        </a:p>
      </dsp:txBody>
      <dsp:txXfrm>
        <a:off x="1686812" y="2607086"/>
        <a:ext cx="7766314" cy="1038831"/>
      </dsp:txXfrm>
    </dsp:sp>
    <dsp:sp modelId="{D1E68029-69C2-4B85-9988-606A9D7A1358}">
      <dsp:nvSpPr>
        <dsp:cNvPr id="0" name=""/>
        <dsp:cNvSpPr/>
      </dsp:nvSpPr>
      <dsp:spPr>
        <a:xfrm>
          <a:off x="8658201" y="836799"/>
          <a:ext cx="717256" cy="71725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8819584" y="836799"/>
        <a:ext cx="394490" cy="539735"/>
      </dsp:txXfrm>
    </dsp:sp>
    <dsp:sp modelId="{089C7A72-473F-465E-AB7F-76B0E43FA744}">
      <dsp:nvSpPr>
        <dsp:cNvPr id="0" name=""/>
        <dsp:cNvSpPr/>
      </dsp:nvSpPr>
      <dsp:spPr>
        <a:xfrm>
          <a:off x="9485447" y="2116825"/>
          <a:ext cx="717256" cy="71725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9646830" y="2116825"/>
        <a:ext cx="394490" cy="5397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AFD7C0-8D5C-4C98-8548-C678C1370CDB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375AB09-299F-4A57-A715-18FCAD1C80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7620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D7C0-8D5C-4C98-8548-C678C1370CDB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0375AB09-299F-4A57-A715-18FCAD1C80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00045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AFD7C0-8D5C-4C98-8548-C678C1370CDB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375AB09-299F-4A57-A715-18FCAD1C80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4522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D7C0-8D5C-4C98-8548-C678C1370CDB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B09-299F-4A57-A715-18FCAD1C80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4153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D7C0-8D5C-4C98-8548-C678C1370CDB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B09-299F-4A57-A715-18FCAD1C80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5507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D7C0-8D5C-4C98-8548-C678C1370CDB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B09-299F-4A57-A715-18FCAD1C80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1559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D7C0-8D5C-4C98-8548-C678C1370CDB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B09-299F-4A57-A715-18FCAD1C80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0769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AFD7C0-8D5C-4C98-8548-C678C1370CDB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375AB09-299F-4A57-A715-18FCAD1C80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6478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D7C0-8D5C-4C98-8548-C678C1370CDB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B09-299F-4A57-A715-18FCAD1C80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9724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FD7C0-8D5C-4C98-8548-C678C1370CDB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5AB09-299F-4A57-A715-18FCAD1C80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4096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FAFD7C0-8D5C-4C98-8548-C678C1370CDB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375AB09-299F-4A57-A715-18FCAD1C802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542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FAFD7C0-8D5C-4C98-8548-C678C1370CDB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0375AB09-299F-4A57-A715-18FCAD1C802F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07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4EC78-700A-C9FE-4DA9-B3F3DF0D19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9310" y="891112"/>
            <a:ext cx="9173379" cy="914187"/>
          </a:xfrm>
        </p:spPr>
        <p:txBody>
          <a:bodyPr>
            <a:noAutofit/>
          </a:bodyPr>
          <a:lstStyle/>
          <a:p>
            <a:pPr algn="ctr"/>
            <a:r>
              <a:rPr lang="es-MX" sz="4000" dirty="0"/>
              <a:t>INSTITUTO POLITÉCNICO NACIONAL</a:t>
            </a:r>
            <a:br>
              <a:rPr lang="es-MX" sz="4000" dirty="0"/>
            </a:br>
            <a:r>
              <a:rPr lang="es-MX" sz="4000" dirty="0"/>
              <a:t>ESCUELA SUPERIOR DE COMPUTO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01534B-B84F-E946-C92E-1F28D5562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3320" y="1805299"/>
            <a:ext cx="5273749" cy="4631198"/>
          </a:xfrm>
        </p:spPr>
        <p:txBody>
          <a:bodyPr>
            <a:normAutofit/>
          </a:bodyPr>
          <a:lstStyle/>
          <a:p>
            <a:pPr algn="ctr"/>
            <a:r>
              <a:rPr lang="es-MX" dirty="0">
                <a:solidFill>
                  <a:schemeClr val="accent3"/>
                </a:solidFill>
              </a:rPr>
              <a:t>Actividad:</a:t>
            </a:r>
          </a:p>
          <a:p>
            <a:pPr algn="ctr"/>
            <a:r>
              <a:rPr lang="es-MX" dirty="0">
                <a:solidFill>
                  <a:schemeClr val="accent3"/>
                </a:solidFill>
              </a:rPr>
              <a:t>MCP y  sistemas de archivos : Investigación e implementación. </a:t>
            </a:r>
          </a:p>
          <a:p>
            <a:pPr algn="ctr"/>
            <a:r>
              <a:rPr lang="es-MX" dirty="0">
                <a:solidFill>
                  <a:schemeClr val="accent3"/>
                </a:solidFill>
              </a:rPr>
              <a:t>Asignatura :</a:t>
            </a:r>
          </a:p>
          <a:p>
            <a:pPr algn="ctr"/>
            <a:r>
              <a:rPr lang="es-MX" dirty="0">
                <a:solidFill>
                  <a:schemeClr val="accent3"/>
                </a:solidFill>
              </a:rPr>
              <a:t>Desarrollo de Aplicaciones Móviles Nativas.</a:t>
            </a:r>
          </a:p>
          <a:p>
            <a:pPr algn="ctr"/>
            <a:r>
              <a:rPr lang="es-MX" dirty="0">
                <a:solidFill>
                  <a:schemeClr val="accent3"/>
                </a:solidFill>
              </a:rPr>
              <a:t>Boleta:</a:t>
            </a:r>
          </a:p>
          <a:p>
            <a:pPr algn="ctr"/>
            <a:r>
              <a:rPr lang="es-MX" dirty="0">
                <a:solidFill>
                  <a:schemeClr val="accent3"/>
                </a:solidFill>
              </a:rPr>
              <a:t>2024630154</a:t>
            </a:r>
          </a:p>
          <a:p>
            <a:pPr algn="ctr"/>
            <a:r>
              <a:rPr lang="es-MX" dirty="0">
                <a:solidFill>
                  <a:schemeClr val="accent3"/>
                </a:solidFill>
              </a:rPr>
              <a:t>Alumno:</a:t>
            </a:r>
            <a:br>
              <a:rPr lang="es-MX" dirty="0">
                <a:solidFill>
                  <a:schemeClr val="accent3"/>
                </a:solidFill>
              </a:rPr>
            </a:br>
            <a:r>
              <a:rPr lang="es-MX" dirty="0">
                <a:solidFill>
                  <a:schemeClr val="accent3"/>
                </a:solidFill>
              </a:rPr>
              <a:t>Téllez Girón Castro Angel Ricardo</a:t>
            </a:r>
          </a:p>
          <a:p>
            <a:pPr algn="ctr"/>
            <a:r>
              <a:rPr lang="es-MX" dirty="0">
                <a:solidFill>
                  <a:schemeClr val="accent3"/>
                </a:solidFill>
              </a:rPr>
              <a:t>Profesor:</a:t>
            </a:r>
            <a:br>
              <a:rPr lang="es-MX" dirty="0">
                <a:solidFill>
                  <a:schemeClr val="accent3"/>
                </a:solidFill>
              </a:rPr>
            </a:br>
            <a:r>
              <a:rPr lang="es-MX" dirty="0">
                <a:solidFill>
                  <a:schemeClr val="accent3"/>
                </a:solidFill>
              </a:rPr>
              <a:t>Hurtado Avilés Gabriel </a:t>
            </a:r>
          </a:p>
          <a:p>
            <a:pPr algn="ctr"/>
            <a:r>
              <a:rPr lang="es-MX" dirty="0">
                <a:solidFill>
                  <a:schemeClr val="accent3"/>
                </a:solidFill>
              </a:rPr>
              <a:t>Grupo:</a:t>
            </a:r>
          </a:p>
          <a:p>
            <a:pPr algn="ctr"/>
            <a:r>
              <a:rPr lang="es-MX" dirty="0">
                <a:solidFill>
                  <a:schemeClr val="accent3"/>
                </a:solidFill>
              </a:rPr>
              <a:t>7CV4 </a:t>
            </a:r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065C0CDD-98FB-5980-F56A-A076EE377111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126134" y="1211047"/>
            <a:ext cx="1952452" cy="1496615"/>
          </a:xfrm>
          <a:prstGeom prst="rect">
            <a:avLst/>
          </a:prstGeom>
          <a:ln/>
        </p:spPr>
      </p:pic>
      <p:pic>
        <p:nvPicPr>
          <p:cNvPr id="5" name="image1.png">
            <a:extLst>
              <a:ext uri="{FF2B5EF4-FFF2-40B4-BE49-F238E27FC236}">
                <a16:creationId xmlns:a16="http://schemas.microsoft.com/office/drawing/2014/main" id="{5172B2A8-DE46-4F33-9AEB-BD61C295D01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50487" y="1124298"/>
            <a:ext cx="2054531" cy="194851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426477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6E80FF-5363-4EBB-97FF-C84D9EA35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1"/>
            <a:ext cx="12191999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19E46E-5263-4C6C-A732-9633475D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38174"/>
            <a:ext cx="3705323" cy="57626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212A36-8A5C-B9B5-D808-8FA3675CF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anchor="ctr">
            <a:normAutofit/>
          </a:bodyPr>
          <a:lstStyle/>
          <a:p>
            <a:r>
              <a:rPr lang="es-MX">
                <a:solidFill>
                  <a:srgbClr val="FFFFFF"/>
                </a:solidFill>
              </a:rPr>
              <a:t>El problema del aislamiento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3E0626-6A9F-400F-9C6C-BDED16912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47DC32-8EA1-434F-BB8A-E6CDA90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12DDC2-F706-47ED-B95F-79213E2D0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AE0A1E-0F18-4974-802F-0E6AE1F55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1923" y="654222"/>
            <a:ext cx="3702878" cy="2437844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 descr="Aplicaciones de los LLM en la industria - Mecalux.com.mx">
            <a:extLst>
              <a:ext uri="{FF2B5EF4-FFF2-40B4-BE49-F238E27FC236}">
                <a16:creationId xmlns:a16="http://schemas.microsoft.com/office/drawing/2014/main" id="{A37F724E-0828-7756-9DCC-E2B7B1222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798" y="845072"/>
            <a:ext cx="3397924" cy="203875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BFBF320-C96B-DDBE-7A97-74AB8D009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827" y="916770"/>
            <a:ext cx="3400442" cy="191274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372E1CD-CBE8-4674-A9FE-54B4AC85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36239" y="654222"/>
            <a:ext cx="3702878" cy="2437844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0EA712-E863-45A4-1A3E-859C3E073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3425295"/>
            <a:ext cx="6864154" cy="2800477"/>
          </a:xfrm>
        </p:spPr>
        <p:txBody>
          <a:bodyPr>
            <a:normAutofit/>
          </a:bodyPr>
          <a:lstStyle/>
          <a:p>
            <a:r>
              <a:rPr lang="es-MX" dirty="0"/>
              <a:t>Un LLM solo recibe texto y devuelve texto</a:t>
            </a:r>
          </a:p>
          <a:p>
            <a:r>
              <a:rPr lang="es-MX" dirty="0"/>
              <a:t>No ejecuta llamadas al sistema operativo</a:t>
            </a:r>
          </a:p>
          <a:p>
            <a:r>
              <a:rPr lang="es-MX" dirty="0"/>
              <a:t>No puede ver ni modificar archivos por sí mismo </a:t>
            </a:r>
          </a:p>
          <a:p>
            <a:r>
              <a:rPr lang="es-MX" dirty="0"/>
              <a:t>Razones de arquitectura + razones de seguridad</a:t>
            </a:r>
          </a:p>
        </p:txBody>
      </p:sp>
    </p:spTree>
    <p:extLst>
      <p:ext uri="{BB962C8B-B14F-4D97-AF65-F5344CB8AC3E}">
        <p14:creationId xmlns:p14="http://schemas.microsoft.com/office/powerpoint/2010/main" val="2953029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D4D6E6-C3EA-8E78-4D71-5F4657146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922738-282F-6654-C5AB-A3783D5C6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r>
              <a:rPr lang="es-MX" sz="2400">
                <a:solidFill>
                  <a:srgbClr val="FFFFFF"/>
                </a:solidFill>
              </a:rPr>
              <a:t>¿Qué es MCP?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F9152E-5DD2-1D8B-A2A1-CBF1BB6BB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/>
          </a:bodyPr>
          <a:lstStyle/>
          <a:p>
            <a:r>
              <a:rPr lang="es-MX" sz="1600">
                <a:solidFill>
                  <a:srgbClr val="FFFFFF"/>
                </a:solidFill>
              </a:rPr>
              <a:t>Model Context Protocol (MCP)</a:t>
            </a:r>
          </a:p>
          <a:p>
            <a:r>
              <a:rPr lang="es-MX" sz="1600">
                <a:solidFill>
                  <a:srgbClr val="FFFFFF"/>
                </a:solidFill>
              </a:rPr>
              <a:t>Protocolo abierto basado en JSON-RPC 2.0</a:t>
            </a:r>
          </a:p>
          <a:p>
            <a:r>
              <a:rPr lang="es-MX" sz="1600">
                <a:solidFill>
                  <a:srgbClr val="FFFFFF"/>
                </a:solidFill>
              </a:rPr>
              <a:t>Un servidor publica un catálogo de herramientas</a:t>
            </a:r>
          </a:p>
          <a:p>
            <a:r>
              <a:rPr lang="es-MX" sz="1600">
                <a:solidFill>
                  <a:srgbClr val="FFFFFF"/>
                </a:solidFill>
              </a:rPr>
              <a:t>El modelo descubre y decide qué usar en tiempo real </a:t>
            </a:r>
          </a:p>
          <a:p>
            <a:r>
              <a:rPr lang="es-MX" sz="1600">
                <a:solidFill>
                  <a:srgbClr val="FFFFFF"/>
                </a:solidFill>
              </a:rPr>
              <a:t>No es de un solo proveedor — es un estándar adoptado por varios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FF99AF9-3820-25A9-69BB-BF72193EB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00" y="1497158"/>
            <a:ext cx="6866506" cy="386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434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6B976-877B-5B7A-797D-8DEAA4E94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BB1D3B0-1E2E-48E2-ACCC-EE147A9A0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B8B191-5BC6-486A-8E6E-13B1C9EEE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E3DE27-4115-4B5D-A9DB-3C7CDC82B1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5196B7-638B-4DC2-897C-9F49E9D46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FA8F66-3B85-411D-A2A6-A50DF302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n 9" descr="MCP vs. API: Explicado el Nuevo Estándar de Integración de IA">
            <a:extLst>
              <a:ext uri="{FF2B5EF4-FFF2-40B4-BE49-F238E27FC236}">
                <a16:creationId xmlns:a16="http://schemas.microsoft.com/office/drawing/2014/main" id="{A7DBA58E-C54F-2BD0-E7CC-163E842C6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39" y="559600"/>
            <a:ext cx="5331481" cy="3398819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69958B5-5C27-4A9A-983B-AC6A83EFD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436050"/>
            <a:ext cx="0" cy="164592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4179E790-E691-4202-B7FA-62924FC8D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65EE0A0-4DA6-4AA2-A475-14DB03C55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76057"/>
            <a:ext cx="11303626" cy="2034709"/>
          </a:xfrm>
          <a:prstGeom prst="rect">
            <a:avLst/>
          </a:prstGeom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3BC446-9FAD-B892-D766-F19F3756D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572000"/>
            <a:ext cx="10965141" cy="8952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MCP  vs API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87942CA-E61F-60F7-F53B-035B58154F29}"/>
              </a:ext>
            </a:extLst>
          </p:cNvPr>
          <p:cNvSpPr txBox="1"/>
          <p:nvPr/>
        </p:nvSpPr>
        <p:spPr>
          <a:xfrm>
            <a:off x="609598" y="5529064"/>
            <a:ext cx="10965142" cy="6270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1600" cap="all">
                <a:solidFill>
                  <a:schemeClr val="tx2"/>
                </a:solidFill>
              </a:rPr>
              <a:t>MCP no sustituye a las APIs: casi siempre envuelve una</a:t>
            </a: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359AF703-CCF0-036E-2479-7CF3F7EFE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2683778"/>
              </p:ext>
            </p:extLst>
          </p:nvPr>
        </p:nvGraphicFramePr>
        <p:xfrm>
          <a:off x="6417735" y="1202017"/>
          <a:ext cx="5331479" cy="21139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1681050">
                  <a:extLst>
                    <a:ext uri="{9D8B030D-6E8A-4147-A177-3AD203B41FA5}">
                      <a16:colId xmlns:a16="http://schemas.microsoft.com/office/drawing/2014/main" val="626713365"/>
                    </a:ext>
                  </a:extLst>
                </a:gridCol>
                <a:gridCol w="1959873">
                  <a:extLst>
                    <a:ext uri="{9D8B030D-6E8A-4147-A177-3AD203B41FA5}">
                      <a16:colId xmlns:a16="http://schemas.microsoft.com/office/drawing/2014/main" val="2377799717"/>
                    </a:ext>
                  </a:extLst>
                </a:gridCol>
                <a:gridCol w="1690556">
                  <a:extLst>
                    <a:ext uri="{9D8B030D-6E8A-4147-A177-3AD203B41FA5}">
                      <a16:colId xmlns:a16="http://schemas.microsoft.com/office/drawing/2014/main" val="2477290012"/>
                    </a:ext>
                  </a:extLst>
                </a:gridCol>
              </a:tblGrid>
              <a:tr h="434965">
                <a:tc>
                  <a:txBody>
                    <a:bodyPr/>
                    <a:lstStyle/>
                    <a:p>
                      <a:pPr algn="ctr"/>
                      <a:endParaRPr lang="es-MX" sz="16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63876" marR="91251" marT="18250" marB="13687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cap="none" spc="0">
                          <a:solidFill>
                            <a:schemeClr val="tx1"/>
                          </a:solidFill>
                        </a:rPr>
                        <a:t>API</a:t>
                      </a:r>
                    </a:p>
                  </a:txBody>
                  <a:tcPr marL="63876" marR="91251" marT="18250" marB="13687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cap="none" spc="0">
                          <a:solidFill>
                            <a:schemeClr val="tx1"/>
                          </a:solidFill>
                        </a:rPr>
                        <a:t>MCP</a:t>
                      </a:r>
                    </a:p>
                  </a:txBody>
                  <a:tcPr marL="63876" marR="91251" marT="18250" marB="13687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584161"/>
                  </a:ext>
                </a:extLst>
              </a:tr>
              <a:tr h="556633">
                <a:tc>
                  <a:txBody>
                    <a:bodyPr/>
                    <a:lstStyle/>
                    <a:p>
                      <a:pPr algn="ctr"/>
                      <a:r>
                        <a:rPr lang="es-MX" sz="1200" cap="none" spc="0">
                          <a:solidFill>
                            <a:schemeClr val="tx1"/>
                          </a:solidFill>
                        </a:rPr>
                        <a:t>¿Quién decide? </a:t>
                      </a:r>
                    </a:p>
                  </a:txBody>
                  <a:tcPr marL="63876" marR="91251" marT="18250" marB="136877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cap="none" spc="0">
                          <a:solidFill>
                            <a:schemeClr val="tx1"/>
                          </a:solidFill>
                        </a:rPr>
                        <a:t>El código, de antemano </a:t>
                      </a:r>
                    </a:p>
                  </a:txBody>
                  <a:tcPr marL="63876" marR="91251" marT="18250" marB="1368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cap="none" spc="0">
                          <a:solidFill>
                            <a:schemeClr val="tx1"/>
                          </a:solidFill>
                        </a:rPr>
                        <a:t>El modelo, en tiempo real</a:t>
                      </a:r>
                    </a:p>
                  </a:txBody>
                  <a:tcPr marL="63876" marR="91251" marT="18250" marB="1368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181593"/>
                  </a:ext>
                </a:extLst>
              </a:tr>
              <a:tr h="374130">
                <a:tc>
                  <a:txBody>
                    <a:bodyPr/>
                    <a:lstStyle/>
                    <a:p>
                      <a:pPr algn="ctr"/>
                      <a:r>
                        <a:rPr lang="es-MX" sz="1200" cap="none" spc="0">
                          <a:solidFill>
                            <a:schemeClr val="tx1"/>
                          </a:solidFill>
                        </a:rPr>
                        <a:t>Descubrimiento </a:t>
                      </a:r>
                    </a:p>
                  </a:txBody>
                  <a:tcPr marL="63876" marR="91251" marT="18250" marB="136877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cap="none" spc="0">
                          <a:solidFill>
                            <a:schemeClr val="tx1"/>
                          </a:solidFill>
                        </a:rPr>
                        <a:t>Documentación (Swagger)</a:t>
                      </a:r>
                    </a:p>
                  </a:txBody>
                  <a:tcPr marL="63876" marR="91251" marT="18250" marB="1368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cap="none" spc="0">
                          <a:solidFill>
                            <a:schemeClr val="tx1"/>
                          </a:solidFill>
                        </a:rPr>
                        <a:t>Descubrimiento </a:t>
                      </a:r>
                    </a:p>
                  </a:txBody>
                  <a:tcPr marL="63876" marR="91251" marT="18250" marB="1368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516475"/>
                  </a:ext>
                </a:extLst>
              </a:tr>
              <a:tr h="374130">
                <a:tc>
                  <a:txBody>
                    <a:bodyPr/>
                    <a:lstStyle/>
                    <a:p>
                      <a:pPr algn="ctr"/>
                      <a:r>
                        <a:rPr lang="es-MX" sz="1200" cap="none" spc="0">
                          <a:solidFill>
                            <a:schemeClr val="tx1"/>
                          </a:solidFill>
                        </a:rPr>
                        <a:t>El servidor lo expone</a:t>
                      </a:r>
                    </a:p>
                  </a:txBody>
                  <a:tcPr marL="63876" marR="91251" marT="18250" marB="136877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cap="none" spc="0">
                          <a:solidFill>
                            <a:schemeClr val="tx1"/>
                          </a:solidFill>
                        </a:rPr>
                        <a:t>Alto</a:t>
                      </a:r>
                    </a:p>
                  </a:txBody>
                  <a:tcPr marL="63876" marR="91251" marT="18250" marB="1368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cap="none" spc="0">
                          <a:solidFill>
                            <a:schemeClr val="tx1"/>
                          </a:solidFill>
                        </a:rPr>
                        <a:t>Bajo</a:t>
                      </a:r>
                    </a:p>
                  </a:txBody>
                  <a:tcPr marL="63876" marR="91251" marT="18250" marB="1368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798114"/>
                  </a:ext>
                </a:extLst>
              </a:tr>
              <a:tr h="374130">
                <a:tc>
                  <a:txBody>
                    <a:bodyPr/>
                    <a:lstStyle/>
                    <a:p>
                      <a:pPr algn="ctr"/>
                      <a:r>
                        <a:rPr lang="es-MX" sz="1200" cap="none" spc="0">
                          <a:solidFill>
                            <a:schemeClr val="tx1"/>
                          </a:solidFill>
                        </a:rPr>
                        <a:t>Mensajes </a:t>
                      </a:r>
                    </a:p>
                  </a:txBody>
                  <a:tcPr marL="63876" marR="91251" marT="18250" marB="136877">
                    <a:lnL w="12700" cap="flat" cmpd="sng" algn="ctr">
                      <a:solidFill>
                        <a:schemeClr val="accent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cap="none" spc="0">
                          <a:solidFill>
                            <a:schemeClr val="tx1"/>
                          </a:solidFill>
                        </a:rPr>
                        <a:t>HTTP + JSON (variable) </a:t>
                      </a:r>
                    </a:p>
                  </a:txBody>
                  <a:tcPr marL="63876" marR="91251" marT="18250" marB="1368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cap="none" spc="0">
                          <a:solidFill>
                            <a:schemeClr val="tx1"/>
                          </a:solidFill>
                        </a:rPr>
                        <a:t>JSON-RPC 2.0</a:t>
                      </a:r>
                    </a:p>
                  </a:txBody>
                  <a:tcPr marL="63876" marR="91251" marT="18250" marB="13687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537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4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30EA4-5975-32B2-875A-511CA37B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7A498F-2519-420C-6825-D23F957EF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r>
              <a:rPr lang="es-MX" sz="2400">
                <a:solidFill>
                  <a:srgbClr val="FFFFFF"/>
                </a:solidFill>
              </a:rPr>
              <a:t>Arquitectura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375FC3-A09E-06BE-1673-C40CB7343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/>
          </a:bodyPr>
          <a:lstStyle/>
          <a:p>
            <a:r>
              <a:rPr lang="es-MX" sz="1600" dirty="0">
                <a:solidFill>
                  <a:srgbClr val="FFFFFF"/>
                </a:solidFill>
              </a:rPr>
              <a:t>Host / Cliente / Servidor</a:t>
            </a:r>
          </a:p>
          <a:p>
            <a:r>
              <a:rPr lang="es-MX" sz="1600" dirty="0">
                <a:solidFill>
                  <a:srgbClr val="FFFFFF"/>
                </a:solidFill>
              </a:rPr>
              <a:t>Primitivas del servidor: Tools · </a:t>
            </a:r>
            <a:r>
              <a:rPr lang="es-MX" sz="1600">
                <a:solidFill>
                  <a:srgbClr val="FFFFFF"/>
                </a:solidFill>
              </a:rPr>
              <a:t>Resources</a:t>
            </a:r>
            <a:r>
              <a:rPr lang="es-MX" sz="1600" dirty="0">
                <a:solidFill>
                  <a:srgbClr val="FFFFFF"/>
                </a:solidFill>
              </a:rPr>
              <a:t> · </a:t>
            </a:r>
            <a:r>
              <a:rPr lang="es-MX" sz="1600">
                <a:solidFill>
                  <a:srgbClr val="FFFFFF"/>
                </a:solidFill>
              </a:rPr>
              <a:t>Prompts</a:t>
            </a:r>
            <a:r>
              <a:rPr lang="es-MX" sz="1600" dirty="0">
                <a:solidFill>
                  <a:srgbClr val="FFFFFF"/>
                </a:solidFill>
              </a:rPr>
              <a:t> </a:t>
            </a:r>
          </a:p>
          <a:p>
            <a:r>
              <a:rPr lang="es-MX" sz="1600" dirty="0">
                <a:solidFill>
                  <a:srgbClr val="FFFFFF"/>
                </a:solidFill>
              </a:rPr>
              <a:t>Primitivas del cliente: Roots · </a:t>
            </a:r>
            <a:r>
              <a:rPr lang="es-MX" sz="1600">
                <a:solidFill>
                  <a:srgbClr val="FFFFFF"/>
                </a:solidFill>
              </a:rPr>
              <a:t>Elicitation</a:t>
            </a:r>
            <a:r>
              <a:rPr lang="es-MX" sz="1600" dirty="0">
                <a:solidFill>
                  <a:srgbClr val="FFFFFF"/>
                </a:solidFill>
              </a:rPr>
              <a:t> T</a:t>
            </a:r>
          </a:p>
          <a:p>
            <a:r>
              <a:rPr lang="es-MX" sz="1600">
                <a:solidFill>
                  <a:srgbClr val="FFFFFF"/>
                </a:solidFill>
              </a:rPr>
              <a:t>ransportes</a:t>
            </a:r>
            <a:r>
              <a:rPr lang="es-MX" sz="1600" dirty="0">
                <a:solidFill>
                  <a:srgbClr val="FFFFFF"/>
                </a:solidFill>
              </a:rPr>
              <a:t>: </a:t>
            </a:r>
            <a:r>
              <a:rPr lang="es-MX" sz="1600">
                <a:solidFill>
                  <a:srgbClr val="FFFFFF"/>
                </a:solidFill>
              </a:rPr>
              <a:t>stdio</a:t>
            </a:r>
            <a:r>
              <a:rPr lang="es-MX" sz="1600" dirty="0">
                <a:solidFill>
                  <a:srgbClr val="FFFFFF"/>
                </a:solidFill>
              </a:rPr>
              <a:t> (local) · </a:t>
            </a:r>
            <a:r>
              <a:rPr lang="es-MX" sz="1600">
                <a:solidFill>
                  <a:srgbClr val="FFFFFF"/>
                </a:solidFill>
              </a:rPr>
              <a:t>Streamable</a:t>
            </a:r>
            <a:r>
              <a:rPr lang="es-MX" sz="1600" dirty="0">
                <a:solidFill>
                  <a:srgbClr val="FFFFFF"/>
                </a:solidFill>
              </a:rPr>
              <a:t> HTTP (remoto)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E58B80-2515-D5BD-6CFE-2C66CB9EC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00" y="2441302"/>
            <a:ext cx="6866506" cy="1974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78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3F7D5-E802-D19E-3A8D-53A6E20EC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28117C-9446-4E7F-AE62-95E0F6DB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D30AFB-4D71-48B0-AA00-28EE92363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A0B76F-8010-4C62-B4B6-C5FC438C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C936C0-4624-438D-BDD0-6B296BD6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B526CBF-0AA4-49A9-B305-EE0AF3AF6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aqueta sobre fondo rojo">
            <a:extLst>
              <a:ext uri="{FF2B5EF4-FFF2-40B4-BE49-F238E27FC236}">
                <a16:creationId xmlns:a16="http://schemas.microsoft.com/office/drawing/2014/main" id="{383C115A-C208-1FFB-9B6E-07BACCB9D1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C8B5139-02E6-4DEA-9CCE-962CAF0AF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0470BC0-AB0D-4A03-B4F1-5DDA9A31C1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24A08B2-EC2C-4641-81BE-FE8B068BE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5BF52E8-9441-6923-91FF-550F0C13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42067"/>
            <a:ext cx="3412067" cy="2971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206477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771D7-56D0-763D-7144-2E69B7C30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25D5E-308C-A9B2-05FC-B8FB1164F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/>
          <a:p>
            <a:r>
              <a:rPr lang="es-MX">
                <a:solidFill>
                  <a:srgbClr val="FFFEFF"/>
                </a:solidFill>
              </a:rPr>
              <a:t>Conclusiones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925E21A-2A93-E5D3-5A64-6901051372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7528904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46282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Dividendo</Template>
  <TotalTime>75</TotalTime>
  <Words>250</Words>
  <Application>Microsoft Office PowerPoint</Application>
  <PresentationFormat>Panorámica</PresentationFormat>
  <Paragraphs>48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Gill Sans MT</vt:lpstr>
      <vt:lpstr>Wingdings 2</vt:lpstr>
      <vt:lpstr>Dividendo</vt:lpstr>
      <vt:lpstr>INSTITUTO POLITÉCNICO NACIONAL ESCUELA SUPERIOR DE COMPUTO</vt:lpstr>
      <vt:lpstr>El problema del aislamiento</vt:lpstr>
      <vt:lpstr>¿Qué es MCP?</vt:lpstr>
      <vt:lpstr>MCP  vs API</vt:lpstr>
      <vt:lpstr>Arquitectura</vt:lpstr>
      <vt:lpstr>video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Ricardo Tellez Giron Castro</dc:creator>
  <cp:lastModifiedBy>Angel Ricardo Tellez Giron Castro</cp:lastModifiedBy>
  <cp:revision>1</cp:revision>
  <dcterms:created xsi:type="dcterms:W3CDTF">2026-09-22T02:21:15Z</dcterms:created>
  <dcterms:modified xsi:type="dcterms:W3CDTF">2026-09-22T03:36:37Z</dcterms:modified>
</cp:coreProperties>
</file>